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E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E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🗺  UTourist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E9B8F"/>
                </a:solidFill>
                <a:latin typeface="Calibri"/>
              </a:rPr>
              <a:t>Sistema de Recomendaciones Turísticas con Grafos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429000"/>
            <a:ext cx="5788152" cy="54864"/>
          </a:xfrm>
          <a:prstGeom prst="rect">
            <a:avLst/>
          </a:prstGeom>
          <a:solidFill>
            <a:srgbClr val="F4A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0F4F8"/>
                </a:solidFill>
                <a:latin typeface="Calibri"/>
              </a:rPr>
              <a:t>Algoritmos y Estructuras de Datos · UVG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E9B8F"/>
                </a:solidFill>
                <a:latin typeface="Calibri"/>
              </a:rPr>
              <a:t>Marco Prera   ·   Fabricio Estrada   ·   Mauricio Corado   ·   Sebastián Rodas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4632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0F4F8"/>
                </a:solidFill>
                <a:latin typeface="Calibri"/>
              </a:rPr>
              <a:t>Django  ·  Neo4j  ·  neomodel  ·  Python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9B8F"/>
                </a:solidFill>
                <a:latin typeface="Calibri"/>
              </a:rPr>
              <a:t>UTourist · Algoritmos y Estructuras de Datos · UVG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6019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 / 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9B8F"/>
                </a:solidFill>
                <a:latin typeface="Calibri"/>
              </a:rPr>
              <a:t>45 minutos · 4 secciones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640080" cy="960120"/>
          </a:xfrm>
          <a:prstGeom prst="rect">
            <a:avLst/>
          </a:prstGeom>
          <a:solidFill>
            <a:srgbClr val="2E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3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280160"/>
            <a:ext cx="9418320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38988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Contexto y Problema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828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9B8F"/>
                </a:solidFill>
                <a:latin typeface="Calibri"/>
              </a:rPr>
              <a:t>5 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14600"/>
            <a:ext cx="640080" cy="960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6974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2514600"/>
            <a:ext cx="9418320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262432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Arquitectura y Base de Datos en Grafos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063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9B8F"/>
                </a:solidFill>
                <a:latin typeface="Calibri"/>
              </a:rPr>
              <a:t>10 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49039"/>
            <a:ext cx="640080" cy="960120"/>
          </a:xfrm>
          <a:prstGeom prst="rect">
            <a:avLst/>
          </a:prstGeom>
          <a:solidFill>
            <a:srgbClr val="F4A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3749039"/>
            <a:ext cx="9418320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385876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Algoritmos de Recomendación (DSA Core)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29767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9B8F"/>
                </a:solidFill>
                <a:latin typeface="Calibri"/>
              </a:rPr>
              <a:t>18 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983480"/>
            <a:ext cx="640080" cy="960120"/>
          </a:xfrm>
          <a:prstGeom prst="rect">
            <a:avLst/>
          </a:prstGeom>
          <a:solidFill>
            <a:srgbClr val="2E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1663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" y="4983480"/>
            <a:ext cx="9418320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509320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Implementación, Demo y Conclusiones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5321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9B8F"/>
                </a:solidFill>
                <a:latin typeface="Calibri"/>
              </a:rPr>
              <a:t>12 min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9B8F"/>
                </a:solidFill>
                <a:latin typeface="Calibri"/>
              </a:rPr>
              <a:t>UTourist · Algoritmos y Estructuras de Datos · UVG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6019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9B8F"/>
                </a:solidFill>
                <a:latin typeface="Calibri"/>
              </a:rPr>
              <a:t>Estudiantes universitarios y el turismo en Guatemala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D3E50"/>
                </a:solidFill>
                <a:latin typeface="Calibri"/>
              </a:rPr>
              <a:t>¿Cómo decide un estudiante a dónde viajar?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11247120" cy="8686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01168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Presupuesto limitado y variable por persona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11247120" cy="8686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9718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0175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Guatemala tiene más de 300 destinos turísticos documentados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31920"/>
            <a:ext cx="11247120" cy="8686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977639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02336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Las recomendaciones genéricas no consideran carrera ni gustos reales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937760"/>
            <a:ext cx="11247120" cy="8686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983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2920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No existe una plataforma enfocada en el perfil universitario guatemalteco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9B8F"/>
                </a:solidFill>
                <a:latin typeface="Calibri"/>
              </a:rPr>
              <a:t>UTourist · Algoritmos y Estructuras de Datos · UVG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6019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3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La Solución · UTourist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2E9B8F"/>
                </a:solidFill>
                <a:latin typeface="Calibri"/>
              </a:rPr>
              <a:t>Un motor de recomendaciones personalizado para estudiantes universitarios,
basado en grafos de conocimiento y algoritmos híbridos.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2560320" cy="3474720"/>
          </a:xfrm>
          <a:prstGeom prst="rect">
            <a:avLst/>
          </a:prstGeom>
          <a:solidFill>
            <a:srgbClr val="1A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4A535"/>
                </a:solidFill>
                <a:latin typeface="Calibri"/>
              </a:rPr>
              <a:t>Personalizado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033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Por carrera, presupuesto
e intereses declarados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2286000"/>
            <a:ext cx="2560320" cy="3474720"/>
          </a:xfrm>
          <a:prstGeom prst="rect">
            <a:avLst/>
          </a:prstGeom>
          <a:solidFill>
            <a:srgbClr val="1A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24688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108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4A535"/>
                </a:solidFill>
                <a:latin typeface="Calibri"/>
              </a:rPr>
              <a:t>Basado en Grafos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7033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Neo4j modela relaciones
entre usuarios y destinos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286000"/>
            <a:ext cx="2560320" cy="3474720"/>
          </a:xfrm>
          <a:prstGeom prst="rect">
            <a:avLst/>
          </a:prstGeom>
          <a:solidFill>
            <a:srgbClr val="1A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24688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108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4A535"/>
                </a:solidFill>
                <a:latin typeface="Calibri"/>
              </a:rPr>
              <a:t>Algoritmo Híbrido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7033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Content + Collaborative
+ Demographic Filtering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2286000"/>
            <a:ext cx="2560320" cy="3474720"/>
          </a:xfrm>
          <a:prstGeom prst="rect">
            <a:avLst/>
          </a:prstGeom>
          <a:solidFill>
            <a:srgbClr val="1A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24688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🇬🇹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3108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4A535"/>
                </a:solidFill>
                <a:latin typeface="Calibri"/>
              </a:rPr>
              <a:t>Datos Reales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37033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31 destinos guatemaltecos
con coordenadas y costos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9B8F"/>
                </a:solidFill>
                <a:latin typeface="Calibri"/>
              </a:rPr>
              <a:t>UTourist · Algoritmos y Estructuras de Datos · UVG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6019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Stack Tecnológico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9B8F"/>
                </a:solidFill>
                <a:latin typeface="Calibri"/>
              </a:rPr>
              <a:t>Herramientas seleccionadas y justificación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657600" cy="23774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3657600" cy="73152"/>
          </a:xfrm>
          <a:prstGeom prst="rect">
            <a:avLst/>
          </a:prstGeom>
          <a:solidFill>
            <a:srgbClr val="2E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Django 6.0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9B8F"/>
                </a:solidFill>
                <a:latin typeface="Calibri"/>
              </a:rPr>
              <a:t>Framework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Autenticación, sesiones, ORM relacional para usuarios, REST API, templates HTML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188720"/>
            <a:ext cx="3657600" cy="23774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188720"/>
            <a:ext cx="3657600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325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Neo4j 5.19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7373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7AE60"/>
                </a:solidFill>
                <a:latin typeface="Calibri"/>
              </a:rPr>
              <a:t>Base de datos en grafo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10312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Almacena nodos y relaciones del grafo turístico. Consultas Cypher nativas para traversals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188720"/>
            <a:ext cx="3657600" cy="23774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188720"/>
            <a:ext cx="3657600" cy="73152"/>
          </a:xfrm>
          <a:prstGeom prst="rect">
            <a:avLst/>
          </a:prstGeom>
          <a:solidFill>
            <a:srgbClr val="F4A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325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neomodel 5.3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7373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A535"/>
                </a:solidFill>
                <a:latin typeface="Calibri"/>
              </a:rPr>
              <a:t>OGM para Neo4j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10312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Mapeo de nodos a clases Python. Recomendado oficialmente por Neo4j (absorbió py2neo)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94760"/>
            <a:ext cx="3657600" cy="23774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794760"/>
            <a:ext cx="3657600" cy="73152"/>
          </a:xfrm>
          <a:prstGeom prst="rect">
            <a:avLst/>
          </a:prstGeom>
          <a:solidFill>
            <a:srgbClr val="2E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931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django-neomodel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434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9B8F"/>
                </a:solidFill>
                <a:latin typeface="Calibri"/>
              </a:rPr>
              <a:t>Integración OGM-Django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70916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Conecta el ciclo de vida de neomodel con la señalización y configuración de Django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3794760"/>
            <a:ext cx="3657600" cy="23774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3794760"/>
            <a:ext cx="3657600" cy="73152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3931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Python 3.10+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3434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E50"/>
                </a:solidFill>
                <a:latin typeface="Calibri"/>
              </a:rPr>
              <a:t>Lenguaje 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470916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Tipado estático, dataclasses, math para cálculo de scores, random para serendipity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9B8F"/>
                </a:solidFill>
                <a:latin typeface="Calibri"/>
              </a:rPr>
              <a:t>UTourist · Algoritmos y Estructuras de Datos · UVG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6019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5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73152"/>
          </a:xfrm>
          <a:prstGeom prst="rect">
            <a:avLst/>
          </a:prstGeom>
          <a:solidFill>
            <a:srgbClr val="2E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02 · Grafos como Estructura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E9B8F"/>
                </a:solidFill>
                <a:latin typeface="Calibri"/>
              </a:rPr>
              <a:t>Por qué Neo4j · Modelo de datos · Relaciones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9B8F"/>
                </a:solidFill>
                <a:latin typeface="Calibri"/>
              </a:rPr>
              <a:t>UTourist · Algoritmos y Estructuras de Datos · UVG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019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6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¿Por qué una Base de Datos en Grafo?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9B8F"/>
                </a:solidFill>
                <a:latin typeface="Calibri"/>
              </a:rPr>
              <a:t>Comparación con modelo relacional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394960" cy="52120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74C3C"/>
                </a:solidFill>
                <a:latin typeface="Calibri"/>
              </a:rPr>
              <a:t>SQL Relacional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  <a:latin typeface="Calibri"/>
              </a:rPr>
              <a:t>✗  Requiere JOINs múltiples para traversals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6032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  <a:latin typeface="Calibri"/>
              </a:rPr>
              <a:t>✗  Query O(n²) para encontrar usuarios similares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33756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  <a:latin typeface="Calibri"/>
              </a:rPr>
              <a:t>✗  Agregar relaciones = alterar esquema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11480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  <a:latin typeface="Calibri"/>
              </a:rPr>
              <a:t>✗  Relaciones almacenadas como foreign keys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9204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  <a:latin typeface="Calibri"/>
              </a:rPr>
              <a:t>✗  Consulta típica: 5+ tablas para recomendar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097280"/>
            <a:ext cx="5394960" cy="52120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2344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7AE60"/>
                </a:solidFill>
                <a:latin typeface="Calibri"/>
              </a:rPr>
              <a:t>Neo4j — Grafo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78308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  <a:latin typeface="Calibri"/>
              </a:rPr>
              <a:t>✓  Traversals son operaciones nativas O(k)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56032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  <a:latin typeface="Calibri"/>
              </a:rPr>
              <a:t>✓  Node Similarity: comparar vecindarios directamente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33756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  <a:latin typeface="Calibri"/>
              </a:rPr>
              <a:t>✓  Relaciones son ciudadanos de primera clase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11480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  <a:latin typeface="Calibri"/>
              </a:rPr>
              <a:t>✓  Propiedades en aristas (rating, weight, distance)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89204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  <a:latin typeface="Calibri"/>
              </a:rPr>
              <a:t>✓  Consulta típica: 1 patrón Cypher de 4 nodos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0" y="1097280"/>
            <a:ext cx="914400" cy="5212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0" y="35661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3A5C"/>
                </a:solidFill>
                <a:latin typeface="Calibri"/>
              </a:rPr>
              <a:t>VS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9B8F"/>
                </a:solidFill>
                <a:latin typeface="Calibri"/>
              </a:rPr>
              <a:t>UTourist · Algoritmos y Estructuras de Datos · UVG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6019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Modelo de Datos · Nodos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9B8F"/>
                </a:solidFill>
                <a:latin typeface="Calibri"/>
              </a:rPr>
              <a:t>6 tipos de nodos definidos con neomodel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657600" cy="23774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3657600" cy="502920"/>
          </a:xfrm>
          <a:prstGeom prst="rect">
            <a:avLst/>
          </a:prstGeom>
          <a:solidFill>
            <a:srgbClr val="2E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A5C"/>
                </a:solidFill>
                <a:latin typeface="Calibri"/>
              </a:rPr>
              <a:t>👤 Student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  · uid (unique)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1284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  · django_user_id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4261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  · 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7238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  · budget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188720"/>
            <a:ext cx="3657600" cy="23774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188720"/>
            <a:ext cx="365760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26187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A5C"/>
                </a:solidFill>
                <a:latin typeface="Calibri"/>
              </a:rPr>
              <a:t>📍 Place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7830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  · uid (unique)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21284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  · 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64261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  · 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07238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  · popularity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188720"/>
            <a:ext cx="3657600" cy="23774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188720"/>
            <a:ext cx="3657600" cy="502920"/>
          </a:xfrm>
          <a:prstGeom prst="rect">
            <a:avLst/>
          </a:prstGeom>
          <a:solidFill>
            <a:srgbClr val="F4A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26187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A5C"/>
                </a:solidFill>
                <a:latin typeface="Calibri"/>
              </a:rPr>
              <a:t>🏷 Category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17830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  · name (unique)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64261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  · Ej: cultura, naturaleza,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07238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  · fiesta, comida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794760"/>
            <a:ext cx="3657600" cy="23774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3794760"/>
            <a:ext cx="3657600" cy="502920"/>
          </a:xfrm>
          <a:prstGeom prst="rect">
            <a:avLst/>
          </a:prstGeom>
          <a:solidFill>
            <a:srgbClr val="2E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86791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A5C"/>
                </a:solidFill>
                <a:latin typeface="Calibri"/>
              </a:rPr>
              <a:t>🎓 Career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3891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  · name (unique)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24865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  · Ingeniería, Derecho,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67842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  · Medicina...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3794760"/>
            <a:ext cx="3657600" cy="23774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97680" y="3794760"/>
            <a:ext cx="365760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0" y="386791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A5C"/>
                </a:solidFill>
                <a:latin typeface="Calibri"/>
              </a:rPr>
              <a:t>🏙 City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43891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  · name (unique)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481888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  · country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3794760"/>
            <a:ext cx="3657600" cy="23774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29600" y="3794760"/>
            <a:ext cx="3657600" cy="502920"/>
          </a:xfrm>
          <a:prstGeom prst="rect">
            <a:avLst/>
          </a:prstGeom>
          <a:solidFill>
            <a:srgbClr val="F4A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386791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A5C"/>
                </a:solidFill>
                <a:latin typeface="Calibri"/>
              </a:rPr>
              <a:t>🔖 Tag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43891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  · name (unique)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524865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  · trending, barato,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567842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  · instagrammable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9B8F"/>
                </a:solidFill>
                <a:latin typeface="Calibri"/>
              </a:rPr>
              <a:t>UTourist · Algoritmos y Estructuras de Datos · UVG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30000" y="66019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8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Modelo de Datos · Relaciones (Aristas)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9B8F"/>
                </a:solidFill>
                <a:latin typeface="Calibri"/>
              </a:rPr>
              <a:t>Las relaciones son el núcleo del sistema de recomendaciones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5486400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228600" cy="1188720"/>
          </a:xfrm>
          <a:prstGeom prst="rect">
            <a:avLst/>
          </a:prstGeom>
          <a:solidFill>
            <a:srgbClr val="2E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1615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9B8F"/>
                </a:solidFill>
                <a:latin typeface="Calibri"/>
              </a:rPr>
              <a:t>VISITED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819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Student → 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5623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E9B8F"/>
                </a:solidFill>
                <a:latin typeface="Calibri"/>
              </a:rPr>
              <a:t>Props: rating · comment · timestamp · budget_spent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391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/>
              </a:rPr>
              <a:t>Historial real + feedback del usuario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5486400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143000"/>
            <a:ext cx="228600" cy="1188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21615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7AE60"/>
                </a:solidFill>
                <a:latin typeface="Calibri"/>
              </a:rPr>
              <a:t>LIKES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5819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Student → Category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85623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E9B8F"/>
                </a:solidFill>
                <a:latin typeface="Calibri"/>
              </a:rPr>
              <a:t>Props: weight (1–5)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0391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/>
              </a:rPr>
              <a:t>Preferencias declaradas por el usuario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468880"/>
            <a:ext cx="5486400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468880"/>
            <a:ext cx="228600" cy="1188720"/>
          </a:xfrm>
          <a:prstGeom prst="rect">
            <a:avLst/>
          </a:prstGeom>
          <a:solidFill>
            <a:srgbClr val="F4A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5420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A535"/>
                </a:solidFill>
                <a:latin typeface="Calibri"/>
              </a:rPr>
              <a:t>STUDIES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9077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Student → Career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1821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E9B8F"/>
                </a:solidFill>
                <a:latin typeface="Calibri"/>
              </a:rPr>
              <a:t>Props: 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36499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/>
              </a:rPr>
              <a:t>Segmentación demográfica por carrera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468880"/>
            <a:ext cx="5486400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2468880"/>
            <a:ext cx="228600" cy="1188720"/>
          </a:xfrm>
          <a:prstGeom prst="rect">
            <a:avLst/>
          </a:prstGeom>
          <a:solidFill>
            <a:srgbClr val="2E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25420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9B8F"/>
                </a:solidFill>
                <a:latin typeface="Calibri"/>
              </a:rPr>
              <a:t>HAS_CATEGORY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9077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Place → Category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1821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E9B8F"/>
                </a:solidFill>
                <a:latin typeface="Calibri"/>
              </a:rPr>
              <a:t>Props: 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36499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/>
              </a:rPr>
              <a:t>Clasificación del destino turístico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794760"/>
            <a:ext cx="5486400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3794760"/>
            <a:ext cx="228600" cy="1188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38679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7AE60"/>
                </a:solidFill>
                <a:latin typeface="Calibri"/>
              </a:rPr>
              <a:t>PREFERS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2336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Career → Place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50799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E9B8F"/>
                </a:solidFill>
                <a:latin typeface="Calibri"/>
              </a:rPr>
              <a:t>Props: weight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69087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/>
              </a:rPr>
              <a:t>Afinidad demográfica carrera-destino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3794760"/>
            <a:ext cx="5486400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3794760"/>
            <a:ext cx="228600" cy="1188720"/>
          </a:xfrm>
          <a:prstGeom prst="rect">
            <a:avLst/>
          </a:prstGeom>
          <a:solidFill>
            <a:srgbClr val="F4A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38679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A535"/>
                </a:solidFill>
                <a:latin typeface="Calibri"/>
              </a:rPr>
              <a:t>NEAR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2336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Place → Place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450799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E9B8F"/>
                </a:solidFill>
                <a:latin typeface="Calibri"/>
              </a:rPr>
              <a:t>Props: distance_km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469087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/>
              </a:rPr>
              <a:t>Proximidad geográfica entre destinos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120640"/>
            <a:ext cx="5486400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5120640"/>
            <a:ext cx="228600" cy="1188720"/>
          </a:xfrm>
          <a:prstGeom prst="rect">
            <a:avLst/>
          </a:prstGeom>
          <a:solidFill>
            <a:srgbClr val="2E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1937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9B8F"/>
                </a:solidFill>
                <a:latin typeface="Calibri"/>
              </a:rPr>
              <a:t>HAS_TAG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5595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Place → Tag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583387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E9B8F"/>
                </a:solidFill>
                <a:latin typeface="Calibri"/>
              </a:rPr>
              <a:t>Props: 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60167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/>
              </a:rPr>
              <a:t>Etiquetas: trending, barato, instagrammable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5120640"/>
            <a:ext cx="5486400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17920" y="5120640"/>
            <a:ext cx="228600" cy="1188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0" y="51937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7AE60"/>
                </a:solidFill>
                <a:latin typeface="Calibri"/>
              </a:rPr>
              <a:t>LOCATED_IN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0" y="55595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Place → City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0" y="583387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E9B8F"/>
                </a:solidFill>
                <a:latin typeface="Calibri"/>
              </a:rPr>
              <a:t>Props: 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0" y="60167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  <a:latin typeface="Calibri"/>
              </a:rPr>
              <a:t>Agrupación geográfica por ciudad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9B8F"/>
                </a:solidFill>
                <a:latin typeface="Calibri"/>
              </a:rPr>
              <a:t>UTourist · Algoritmos y Estructuras de Datos · UVG 2026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0" y="66019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9 /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Grafo del Modelo de Datos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834640"/>
            <a:ext cx="1645920" cy="868680"/>
          </a:xfrm>
          <a:prstGeom prst="rect">
            <a:avLst/>
          </a:prstGeom>
          <a:solidFill>
            <a:srgbClr val="2E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303580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👤 Student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0" y="1005840"/>
            <a:ext cx="1645920" cy="8686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83480" y="120700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📍 Place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2834640"/>
            <a:ext cx="1645920" cy="868680"/>
          </a:xfrm>
          <a:prstGeom prst="rect">
            <a:avLst/>
          </a:prstGeom>
          <a:solidFill>
            <a:srgbClr val="F4A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83480" y="303580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🏷 Category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4846320"/>
            <a:ext cx="1645920" cy="868680"/>
          </a:xfrm>
          <a:prstGeom prst="rect">
            <a:avLst/>
          </a:prstGeom>
          <a:solidFill>
            <a:srgbClr val="2E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504748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🎓 Career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005840"/>
            <a:ext cx="1645920" cy="8686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120700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🏙 City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2834640"/>
            <a:ext cx="1645920" cy="868680"/>
          </a:xfrm>
          <a:prstGeom prst="rect">
            <a:avLst/>
          </a:prstGeom>
          <a:solidFill>
            <a:srgbClr val="F4A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303580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🔖 Tag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0" y="3081528"/>
            <a:ext cx="2926080" cy="54864"/>
          </a:xfrm>
          <a:prstGeom prst="rect">
            <a:avLst/>
          </a:prstGeom>
          <a:solidFill>
            <a:srgbClr val="2E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88920" y="2788920"/>
            <a:ext cx="758952" cy="30175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40" y="2834640"/>
            <a:ext cx="667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E9B8F"/>
                </a:solidFill>
                <a:latin typeface="Calibri"/>
              </a:rPr>
              <a:t>VISITED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0" y="3218688"/>
            <a:ext cx="54864" cy="137160"/>
          </a:xfrm>
          <a:prstGeom prst="rect">
            <a:avLst/>
          </a:prstGeom>
          <a:solidFill>
            <a:srgbClr val="2E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011680" y="3355848"/>
            <a:ext cx="2743200" cy="54864"/>
          </a:xfrm>
          <a:prstGeom prst="rect">
            <a:avLst/>
          </a:prstGeom>
          <a:solidFill>
            <a:srgbClr val="2E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54880" y="3246120"/>
            <a:ext cx="54864" cy="457200"/>
          </a:xfrm>
          <a:prstGeom prst="rect">
            <a:avLst/>
          </a:prstGeom>
          <a:solidFill>
            <a:srgbClr val="2E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71800" y="3200400"/>
            <a:ext cx="594359" cy="30175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0" y="3246120"/>
            <a:ext cx="502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E9B8F"/>
                </a:solidFill>
                <a:latin typeface="Calibri"/>
              </a:rPr>
              <a:t>LIKES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0" y="3337560"/>
            <a:ext cx="54864" cy="1965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11680" y="5303520"/>
            <a:ext cx="292608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54880" y="5212080"/>
            <a:ext cx="54864" cy="14630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88920" y="4983480"/>
            <a:ext cx="758952" cy="30175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34640" y="5029200"/>
            <a:ext cx="667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7AE60"/>
                </a:solidFill>
                <a:latin typeface="Calibri"/>
              </a:rPr>
              <a:t>STUDIES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06440" y="1874519"/>
            <a:ext cx="54864" cy="960120"/>
          </a:xfrm>
          <a:prstGeom prst="rect">
            <a:avLst/>
          </a:prstGeom>
          <a:solidFill>
            <a:srgbClr val="F4A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897880" y="2148840"/>
            <a:ext cx="1170432" cy="30175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0" y="2194560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4A535"/>
                </a:solidFill>
                <a:latin typeface="Calibri"/>
              </a:rPr>
              <a:t>HAS_CATEGORY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1389888"/>
            <a:ext cx="237744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269480" y="1188720"/>
            <a:ext cx="1005839" cy="30175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0" y="1234440"/>
            <a:ext cx="9143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7AE60"/>
                </a:solidFill>
                <a:latin typeface="Calibri"/>
              </a:rPr>
              <a:t>LOCATED_IN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1463040"/>
            <a:ext cx="54864" cy="1709928"/>
          </a:xfrm>
          <a:prstGeom prst="rect">
            <a:avLst/>
          </a:prstGeom>
          <a:solidFill>
            <a:srgbClr val="F4A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0" y="3172968"/>
            <a:ext cx="2377440" cy="54864"/>
          </a:xfrm>
          <a:prstGeom prst="rect">
            <a:avLst/>
          </a:prstGeom>
          <a:solidFill>
            <a:srgbClr val="F4A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60919" y="2971800"/>
            <a:ext cx="758952" cy="30175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06640" y="3017520"/>
            <a:ext cx="667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4A535"/>
                </a:solidFill>
                <a:latin typeface="Calibri"/>
              </a:rPr>
              <a:t>HAS_TAG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37760" y="4892040"/>
            <a:ext cx="54864" cy="-3429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886200" y="3794760"/>
            <a:ext cx="758952" cy="30175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31920" y="3840480"/>
            <a:ext cx="667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74C3C"/>
                </a:solidFill>
                <a:latin typeface="Calibri"/>
              </a:rPr>
              <a:t>PREFERS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37760" y="1828800"/>
            <a:ext cx="731520" cy="54864"/>
          </a:xfrm>
          <a:prstGeom prst="rect">
            <a:avLst/>
          </a:prstGeom>
          <a:solidFill>
            <a:srgbClr val="1A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69280" y="1828800"/>
            <a:ext cx="54864" cy="-411480"/>
          </a:xfrm>
          <a:prstGeom prst="rect">
            <a:avLst/>
          </a:prstGeom>
          <a:solidFill>
            <a:srgbClr val="1A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983480" y="1581912"/>
            <a:ext cx="512064" cy="30175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0" y="1627632"/>
            <a:ext cx="42062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A6B62"/>
                </a:solidFill>
                <a:latin typeface="Calibri"/>
              </a:rPr>
              <a:t>NEAR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9B8F"/>
                </a:solidFill>
                <a:latin typeface="Calibri"/>
              </a:rPr>
              <a:t>UTourist · Algoritmos y Estructuras de Datos · UVG 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30000" y="66019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10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73152"/>
          </a:xfrm>
          <a:prstGeom prst="rect">
            <a:avLst/>
          </a:prstGeom>
          <a:solidFill>
            <a:srgbClr val="2E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03 · Algoritmos de Recomendación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E9B8F"/>
                </a:solidFill>
                <a:latin typeface="Calibri"/>
              </a:rPr>
              <a:t>Content-Based · Collaborative · Demographic · Híbrido · Cold Start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9B8F"/>
                </a:solidFill>
                <a:latin typeface="Calibri"/>
              </a:rPr>
              <a:t>UTourist · Algoritmos y Estructuras de Datos · UVG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019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Landscape de Algoritmos de Recomendación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9B8F"/>
                </a:solidFill>
                <a:latin typeface="Calibri"/>
              </a:rPr>
              <a:t>Investigación y selección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2743200" cy="2331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2743200" cy="64008"/>
          </a:xfrm>
          <a:prstGeom prst="rect">
            <a:avLst/>
          </a:prstGeom>
          <a:solidFill>
            <a:srgbClr val="2E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25272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9B8F"/>
                </a:solidFill>
                <a:latin typeface="Calibri"/>
              </a:rPr>
              <a:t>Collaborative
Filtering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920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Calibri"/>
              </a:rPr>
              <a:t>Usuarios similares → ítems similares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7432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7AE60"/>
                </a:solidFill>
                <a:latin typeface="Calibri"/>
              </a:rPr>
              <a:t>✓ Implementado como Componente 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143000"/>
            <a:ext cx="2743200" cy="2331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143000"/>
            <a:ext cx="2743200" cy="640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25272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  <a:latin typeface="Calibri"/>
              </a:rPr>
              <a:t>Content-Based
Filtering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920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Calibri"/>
              </a:rPr>
              <a:t>Atributos del ítem → perfil del usuario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7432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7AE60"/>
                </a:solidFill>
                <a:latin typeface="Calibri"/>
              </a:rPr>
              <a:t>✓ Implementado como Componente 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143000"/>
            <a:ext cx="2743200" cy="2331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143000"/>
            <a:ext cx="2743200" cy="64008"/>
          </a:xfrm>
          <a:prstGeom prst="rect">
            <a:avLst/>
          </a:prstGeom>
          <a:solidFill>
            <a:srgbClr val="F4A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79" y="125272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A535"/>
                </a:solidFill>
                <a:latin typeface="Calibri"/>
              </a:rPr>
              <a:t>Sistema
Híbrido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79" y="1920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Calibri"/>
              </a:rPr>
              <a:t>Combina múltiples enfoques ponderados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79" y="27432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7AE60"/>
                </a:solidFill>
                <a:latin typeface="Calibri"/>
              </a:rPr>
              <a:t>✓ Arquitectura principal del sistema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1143000"/>
            <a:ext cx="2743200" cy="2331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1143000"/>
            <a:ext cx="2743200" cy="64008"/>
          </a:xfrm>
          <a:prstGeom prst="rect">
            <a:avLst/>
          </a:prstGeom>
          <a:solidFill>
            <a:srgbClr val="2E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125272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9B8F"/>
                </a:solidFill>
                <a:latin typeface="Calibri"/>
              </a:rPr>
              <a:t>Graph
Traversals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1920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Calibri"/>
              </a:rPr>
              <a:t>Explorar rutas del grafo por patrones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7432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7AE60"/>
                </a:solidFill>
                <a:latin typeface="Calibri"/>
              </a:rPr>
              <a:t>✓ Mecanismo de consulta en Neo4j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703320"/>
            <a:ext cx="2743200" cy="2331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703320"/>
            <a:ext cx="2743200" cy="640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79" y="381304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  <a:latin typeface="Calibri"/>
              </a:rPr>
              <a:t>Node
Similarity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79" y="4480559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Calibri"/>
              </a:rPr>
              <a:t>Jaccard entre vecindarios de nodos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79" y="53035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7AE60"/>
                </a:solidFill>
                <a:latin typeface="Calibri"/>
              </a:rPr>
              <a:t>✓ Mide similitud entre estudiantes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3703320"/>
            <a:ext cx="2743200" cy="2331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91840" y="3703320"/>
            <a:ext cx="2743200" cy="64008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83280" y="381304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4F8"/>
                </a:solidFill>
                <a:latin typeface="Calibri"/>
              </a:rPr>
              <a:t>Community
Detection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4480559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Calibri"/>
              </a:rPr>
              <a:t>Agrupar nodos más conectados entre sí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53035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0F4F8"/>
                </a:solidFill>
                <a:latin typeface="Calibri"/>
              </a:rPr>
              <a:t>◐ Solo complementario (no primario)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3703320"/>
            <a:ext cx="2743200" cy="2331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63640" y="3703320"/>
            <a:ext cx="2743200" cy="64008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79" y="381304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4F8"/>
                </a:solidFill>
                <a:latin typeface="Calibri"/>
              </a:rPr>
              <a:t>PageRank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79" y="4480559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Calibri"/>
              </a:rPr>
              <a:t>Relevancia global por conexiones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79" y="53035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0F4F8"/>
                </a:solidFill>
                <a:latin typeface="Calibri"/>
              </a:rPr>
              <a:t>✗ Produce rankings globales, no personalizados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9B8F"/>
                </a:solidFill>
                <a:latin typeface="Calibri"/>
              </a:rPr>
              <a:t>UTourist · Algoritmos y Estructuras de Datos · UVG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0" y="66019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12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Componente A · Content-Based Filtering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9B8F"/>
                </a:solidFill>
                <a:latin typeface="Calibri"/>
              </a:rPr>
              <a:t>Peso: 40% (normal) | 50% (cold start)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11430000" cy="502920"/>
          </a:xfrm>
          <a:prstGeom prst="rect">
            <a:avLst/>
          </a:prstGeom>
          <a:solidFill>
            <a:srgbClr val="2E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5C"/>
                </a:solidFill>
                <a:latin typeface="Calibri"/>
              </a:rPr>
              <a:t>Pregunta: ¿Qué tan bien encajan las categorías del lugar con los gustos declarados del estudiante?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3E50"/>
                </a:solidFill>
                <a:latin typeface="Calibri"/>
              </a:rPr>
              <a:t>Traversal en el grafo: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03120"/>
            <a:ext cx="7315200" cy="5943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76272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E9B8F"/>
                </a:solidFill>
                <a:latin typeface="Calibri"/>
              </a:rPr>
              <a:t>(Student) -[LIKES, weight]→ (Category) ←[HAS_CATEGORY]- (Place)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80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3E50"/>
                </a:solidFill>
                <a:latin typeface="Calibri"/>
              </a:rPr>
              <a:t>Fórmula: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246120"/>
            <a:ext cx="7315200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310128"/>
            <a:ext cx="6949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  <a:latin typeface="Calibri"/>
              </a:rPr>
              <a:t>direct_matches  = |cats_lugar ∩ cats_liked|  × 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02736"/>
            <a:ext cx="6949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9B8F"/>
                </a:solidFill>
                <a:latin typeface="Calibri"/>
              </a:rPr>
              <a:t>visited_matches = |cats_lugar ∩ cats_visited| × 0.5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95344"/>
            <a:ext cx="6949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A535"/>
                </a:solidFill>
                <a:latin typeface="Calibri"/>
              </a:rPr>
              <a:t>content_score   = (direct + visited) / |cats_lugar|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1097280"/>
            <a:ext cx="3931920" cy="52120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12070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9B8F"/>
                </a:solidFill>
                <a:latin typeface="Calibri"/>
              </a:rPr>
              <a:t>Ejemplo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1664208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Lugar: Antigua Guatemala
Categorías: [cultura, historia]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251460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Estudiante:
 LIKES cultura (w=4)
 LIKES arte   (w=3)
 NO LIKES historia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1000" y="3794760"/>
            <a:ext cx="3474720" cy="54864"/>
          </a:xfrm>
          <a:prstGeom prst="rect">
            <a:avLst/>
          </a:prstGeom>
          <a:solidFill>
            <a:srgbClr val="2E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0" y="393192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direct = 1 × 1.0 = 1.0
visited = 0
score = 1.0 / 2 = 0.50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9B8F"/>
                </a:solidFill>
                <a:latin typeface="Calibri"/>
              </a:rPr>
              <a:t>UTourist · Algoritmos y Estructuras de Datos · UVG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6019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Componente B · Collaborative Filtering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9B8F"/>
                </a:solidFill>
                <a:latin typeface="Calibri"/>
              </a:rPr>
              <a:t>Peso: 35% (normal) | 20% (cold start) — Node Similarity + Traversal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1143000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5C"/>
                </a:solidFill>
                <a:latin typeface="Calibri"/>
              </a:rPr>
              <a:t>Pregunta: ¿Qué lugares visitaron y valoraron estudiantes similares a mí, que yo aún no conozco?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830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3E50"/>
                </a:solidFill>
                <a:latin typeface="Calibri"/>
              </a:rPr>
              <a:t>Paso 1 — Node Similarity (Jaccard):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48840"/>
            <a:ext cx="7315200" cy="5943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212848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E9B8F"/>
                </a:solidFill>
                <a:latin typeface="Calibri"/>
              </a:rPr>
              <a:t>jaccard(A, B) = |visited_A ∩ visited_B| / |visited_A ∪ visited_B|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529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3E50"/>
                </a:solidFill>
                <a:latin typeface="Calibri"/>
              </a:rPr>
              <a:t>Paso 2 — Traversal ponderado por similitud: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218688"/>
            <a:ext cx="7315200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282696"/>
            <a:ext cx="7040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7AE60"/>
                </a:solidFill>
                <a:latin typeface="Calibri"/>
              </a:rPr>
              <a:t>(Student) -[VISITED]→ (común) ←[VISITED]- (similar) -[VISITED]→ (candidato)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630168"/>
            <a:ext cx="7040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A535"/>
                </a:solidFill>
                <a:latin typeface="Calibri"/>
              </a:rPr>
              <a:t>collab_score = Σ(jaccard_i × rating_i / 5) / Σ(jaccard_i)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206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E50"/>
                </a:solidFill>
                <a:latin typeface="Calibri"/>
              </a:rPr>
              <a:t>Similitud en Cypher (Neo4j):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553712"/>
            <a:ext cx="7315200" cy="13258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617720"/>
            <a:ext cx="7040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E9B8F"/>
                </a:solidFill>
                <a:latin typeface="Calibri"/>
              </a:rPr>
              <a:t>MATCH (s)-[:LIKES]-&gt;(cat:Category)&lt;-[:LIKES]-(peer:Student)
WHERE s &lt;&gt; peer
WITH s, collect(DISTINCT peer) AS similar_peers
MATCH (counted:Student)-[:VISITED]-&gt;(p)
WHERE counted IN similar_peers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1097280"/>
            <a:ext cx="3931920" cy="52120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1000" y="12070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7AE60"/>
                </a:solidFill>
                <a:latin typeface="Calibri"/>
              </a:rPr>
              <a:t>¿Por qué Jaccard?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1664208"/>
            <a:ext cx="3566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Compara conjuntos de lugares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visitados sin importar el orden</a:t>
            </a:r>
          </a:p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Jaccard = 0  → sin nada en común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Jaccard = 1  → exactamente iguales</a:t>
            </a:r>
          </a:p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Umbral mínimo: 0.10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Menos de 10% en común =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no se considera 'similar'</a:t>
            </a:r>
          </a:p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Escalabilidad: en producción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se delega a Neo4j GDS</a:t>
            </a:r>
          </a:p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gds.nodeSimilarity()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9B8F"/>
                </a:solidFill>
                <a:latin typeface="Calibri"/>
              </a:rPr>
              <a:t>UTourist · Algoritmos y Estructuras de Datos · UVG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6019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14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Componente C · Demographic Filtering (Carrera)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9B8F"/>
                </a:solidFill>
                <a:latin typeface="Calibri"/>
              </a:rPr>
              <a:t>Peso: 25% — Traversal de 2 saltos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11430000" cy="502920"/>
          </a:xfrm>
          <a:prstGeom prst="rect">
            <a:avLst/>
          </a:prstGeom>
          <a:solidFill>
            <a:srgbClr val="F4A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5C"/>
                </a:solidFill>
                <a:latin typeface="Calibri"/>
              </a:rPr>
              <a:t>Pregunta: ¿Este destino está recomendado para la carrera universitaria del estudiante?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3E50"/>
                </a:solidFill>
                <a:latin typeface="Calibri"/>
              </a:rPr>
              <a:t>Traversal — 2 saltos: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03120"/>
            <a:ext cx="7315200" cy="5943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76272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4A535"/>
                </a:solidFill>
                <a:latin typeface="Calibri"/>
              </a:rPr>
              <a:t>(Student) -[STUDIES]→ (Career) -[PREFERS, weight]→ (Place)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80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3E50"/>
                </a:solidFill>
                <a:latin typeface="Calibri"/>
              </a:rPr>
              <a:t>Por qué es relevante para DSA: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37560"/>
            <a:ext cx="7040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E50"/>
                </a:solidFill>
                <a:latin typeface="Calibri"/>
              </a:rPr>
              <a:t>→  Es el traversal más corto del sistema (distancia = 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023360"/>
            <a:ext cx="7040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E50"/>
                </a:solidFill>
                <a:latin typeface="Calibri"/>
              </a:rPr>
              <a:t>→  Complejidad: O(1) — directo en el grafo si existe la arista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709160"/>
            <a:ext cx="7040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E50"/>
                </a:solidFill>
                <a:latin typeface="Calibri"/>
              </a:rPr>
              <a:t>→  Resuelve el problema de cold start: funciona sin historial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394960"/>
            <a:ext cx="7040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E50"/>
                </a:solidFill>
                <a:latin typeface="Calibri"/>
              </a:rPr>
              <a:t>→  Combina señal demográfica con señal de grafo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577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3E50"/>
                </a:solidFill>
                <a:latin typeface="Calibri"/>
              </a:rPr>
              <a:t>Fórmula: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897880"/>
            <a:ext cx="7315200" cy="5486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961888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4A535"/>
                </a:solidFill>
                <a:latin typeface="Calibri"/>
              </a:rPr>
              <a:t>demographic_score = PreferenceRel.weight / MAX_WEIGHT  ∈ [0.0, 1.0]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1097280"/>
            <a:ext cx="3931920" cy="52120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12070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A535"/>
                </a:solidFill>
                <a:latin typeface="Calibri"/>
              </a:rPr>
              <a:t>Relación PREFERS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1664208"/>
            <a:ext cx="3566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Career → Place con peso</a:t>
            </a:r>
          </a:p>
          <a:p>
            <a:pPr algn="l"/>
            <a:r>
              <a:rPr sz="6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Ingeniería Civil → Tikal (0.9)</a:t>
            </a:r>
          </a:p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Ingeniería Civil → Pacaya (0.7)</a:t>
            </a:r>
          </a:p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Medicina → Fuentes Georginas (0.8)</a:t>
            </a:r>
          </a:p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Arte → Chichicastenango (0.9)</a:t>
            </a:r>
          </a:p>
          <a:p>
            <a:pPr algn="l"/>
            <a:r>
              <a:rPr sz="6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Los pesos se pueden ajustar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con el management command:</a:t>
            </a:r>
          </a:p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setup_neo4j --seed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9B8F"/>
                </a:solidFill>
                <a:latin typeface="Calibri"/>
              </a:rPr>
              <a:t>UTourist · Algoritmos y Estructuras de Datos · UVG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6019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15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Sistema Híbrido · Fórmula Final de Score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463040"/>
          </a:xfrm>
          <a:prstGeom prst="rect">
            <a:avLst/>
          </a:prstGeom>
          <a:solidFill>
            <a:srgbClr val="1A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6187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4A535"/>
                </a:solidFill>
                <a:latin typeface="Calibri"/>
              </a:rPr>
              <a:t>score_final = (0.40 × content) + (0.35 × collaborative) + (0.25 × demographic)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E9B8F"/>
                </a:solidFill>
                <a:latin typeface="Calibri"/>
              </a:rPr>
              <a:t>+ (0.05 × geo_proximity)  +  (0.05 × popularity_norm)  +  serendipity [0, 0.10]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34640"/>
            <a:ext cx="2011680" cy="1645920"/>
          </a:xfrm>
          <a:prstGeom prst="rect">
            <a:avLst/>
          </a:prstGeom>
          <a:solidFill>
            <a:srgbClr val="2E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907792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3A5C"/>
                </a:solidFill>
                <a:latin typeface="Calibri"/>
              </a:rPr>
              <a:t>Content
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749039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3A5C"/>
                </a:solidFill>
                <a:latin typeface="Calibri"/>
              </a:rPr>
              <a:t>Categorías
LIKED + VISITED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2834640"/>
            <a:ext cx="2011680" cy="1645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2907792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3A5C"/>
                </a:solidFill>
                <a:latin typeface="Calibri"/>
              </a:rPr>
              <a:t>Collaborative
35%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749039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3A5C"/>
                </a:solidFill>
                <a:latin typeface="Calibri"/>
              </a:rPr>
              <a:t>Jaccard
Node Similarity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2834640"/>
            <a:ext cx="2011680" cy="1645920"/>
          </a:xfrm>
          <a:prstGeom prst="rect">
            <a:avLst/>
          </a:prstGeom>
          <a:solidFill>
            <a:srgbClr val="F4A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2907792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3A5C"/>
                </a:solidFill>
                <a:latin typeface="Calibri"/>
              </a:rPr>
              <a:t>Demographic
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3749039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3A5C"/>
                </a:solidFill>
                <a:latin typeface="Calibri"/>
              </a:rPr>
              <a:t>Carrera →
PREFERS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2834640"/>
            <a:ext cx="2011680" cy="16459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2907792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3A5C"/>
                </a:solidFill>
                <a:latin typeface="Calibri"/>
              </a:rPr>
              <a:t>Geo Bonus
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3749039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3A5C"/>
                </a:solidFill>
                <a:latin typeface="Calibri"/>
              </a:rPr>
              <a:t>Distancia a
Guat. City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0" y="2834640"/>
            <a:ext cx="2011680" cy="1645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46920" y="2907792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3A5C"/>
                </a:solidFill>
                <a:latin typeface="Calibri"/>
              </a:rPr>
              <a:t>Popularity
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920" y="3749039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3A5C"/>
                </a:solidFill>
                <a:latin typeface="Calibri"/>
              </a:rPr>
              <a:t>Avg rating
normalizado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7091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2E9B8F"/>
                </a:solidFill>
                <a:latin typeface="Calibri"/>
              </a:rPr>
              <a:t>El score final se escala a [0, 100] con min(score × 100, 100.0)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212080"/>
            <a:ext cx="11064240" cy="1143000"/>
          </a:xfrm>
          <a:prstGeom prst="rect">
            <a:avLst/>
          </a:prstGeom>
          <a:solidFill>
            <a:srgbClr val="1A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2852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A535"/>
                </a:solidFill>
                <a:latin typeface="Calibri"/>
              </a:rPr>
              <a:t>Explicabilidad de resultados: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5961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Si collaborative &gt; 0.6  → "Muchos estudiantes con tus mismos gustos han visitado este lugar."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87044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Si demographic &gt; 0.8    → "Este destino es muy popular entre estudiantes de tu carrera."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9B8F"/>
                </a:solidFill>
                <a:latin typeface="Calibri"/>
              </a:rPr>
              <a:t>UTourist · Algoritmos y Estructuras de Datos · UVG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6019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16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Manejo del Cold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9B8F"/>
                </a:solidFill>
                <a:latin typeface="Calibri"/>
              </a:rPr>
              <a:t>El sistema se adapta automáticamente a usuarios nuevos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2D3E50"/>
                </a:solidFill>
                <a:latin typeface="Calibri"/>
              </a:rPr>
              <a:t>Problema: un nuevo usuario sin historial no tiene datos para Collaborative Filtering.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3657600" cy="4389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737360"/>
            <a:ext cx="36576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0136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5C"/>
                </a:solidFill>
                <a:latin typeface="Calibri"/>
              </a:rPr>
              <a:t>Estado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317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Usuario con historial
(≥ 3 visitas)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182112"/>
            <a:ext cx="347472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Content: 40%
Collaborative: 35%
Demographic: 25%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15968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  <a:latin typeface="Calibri"/>
              </a:rPr>
              <a:t>Sistema completo activado.
Todos los componentes aportan señal.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737360"/>
            <a:ext cx="3657600" cy="4389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737360"/>
            <a:ext cx="3657600" cy="457200"/>
          </a:xfrm>
          <a:prstGeom prst="rect">
            <a:avLst/>
          </a:prstGeom>
          <a:solidFill>
            <a:srgbClr val="F4A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80136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5C"/>
                </a:solidFill>
                <a:latin typeface="Calibri"/>
              </a:rPr>
              <a:t>Estado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3317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A535"/>
                </a:solidFill>
                <a:latin typeface="Calibri"/>
              </a:rPr>
              <a:t>Usuario nuevo
con preferencias declaradas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3182112"/>
            <a:ext cx="3474720" cy="54864"/>
          </a:xfrm>
          <a:prstGeom prst="rect">
            <a:avLst/>
          </a:prstGeom>
          <a:solidFill>
            <a:srgbClr val="F4A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329184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Content: 50%
Collaborative: 20%
Demographic: 25%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315968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  <a:latin typeface="Calibri"/>
              </a:rPr>
              <a:t>Se reduce peso colaborativo.
Se refuerza contenido e intereses.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737360"/>
            <a:ext cx="3657600" cy="4389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737360"/>
            <a:ext cx="365760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180136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3A5C"/>
                </a:solidFill>
                <a:latin typeface="Calibri"/>
              </a:rPr>
              <a:t>Estado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3317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Calibri"/>
              </a:rPr>
              <a:t>Cold Start total
(sin visitas ni likes)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3182112"/>
            <a:ext cx="347472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329184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Solo Demographic
+ Popularidad global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315968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  <a:latin typeface="Calibri"/>
              </a:rPr>
              <a:t>Solo carrera y popularidad.
El sistema pide onboarding al usuario.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9107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2E9B8F"/>
                </a:solidFill>
                <a:latin typeface="Calibri"/>
              </a:rPr>
              <a:t>Umbral de cold start: &lt; 3 visitas registradas  (_COLD_START_THRESHOLD = 3)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9B8F"/>
                </a:solidFill>
                <a:latin typeface="Calibri"/>
              </a:rPr>
              <a:t>UTourist · Algoritmos y Estructuras de Datos · UVG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6019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Análisis de Complejidad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9B8F"/>
                </a:solidFill>
                <a:latin typeface="Calibri"/>
              </a:rPr>
              <a:t>DSA: costo computacional de cada componente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1612880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704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9B8F"/>
                </a:solidFill>
                <a:latin typeface="Calibri"/>
              </a:rPr>
              <a:t>Componente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1704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9B8F"/>
                </a:solidFill>
                <a:latin typeface="Calibri"/>
              </a:rPr>
              <a:t>Técnica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1704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9B8F"/>
                </a:solidFill>
                <a:latin typeface="Calibri"/>
              </a:rPr>
              <a:t>Complejidad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11704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9B8F"/>
                </a:solidFill>
                <a:latin typeface="Calibri"/>
              </a:rPr>
              <a:t>Costo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00200"/>
            <a:ext cx="11612880" cy="62179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66420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Componente A (Content)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66420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Traversal 2 saltos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66420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A535"/>
                </a:solidFill>
                <a:latin typeface="Calibri"/>
              </a:rPr>
              <a:t>O(|C|)  C = categorías del lugar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166420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  <a:latin typeface="Calibri"/>
              </a:rPr>
              <a:t>Bajo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258568"/>
            <a:ext cx="11612880" cy="621792"/>
          </a:xfrm>
          <a:prstGeom prst="rect">
            <a:avLst/>
          </a:prstGeom>
          <a:solidFill>
            <a:srgbClr val="224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322576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Componente B (Collaborative)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2322576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Jaccard entre pares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322576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A535"/>
                </a:solidFill>
                <a:latin typeface="Calibri"/>
              </a:rPr>
              <a:t>O(|V|²) en Python naive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2322576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74C3C"/>
                </a:solidFill>
                <a:latin typeface="Calibri"/>
              </a:rPr>
              <a:t>Alto sin GDS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916936"/>
            <a:ext cx="11612880" cy="62179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980944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Componente B (Cypher)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2980944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Shared category peer lookup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2980944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A535"/>
                </a:solidFill>
                <a:latin typeface="Calibri"/>
              </a:rPr>
              <a:t>O(|likes_edges|) — nativo en grafo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2980944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  <a:latin typeface="Calibri"/>
              </a:rPr>
              <a:t>Bajo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575304"/>
            <a:ext cx="11612880" cy="621792"/>
          </a:xfrm>
          <a:prstGeom prst="rect">
            <a:avLst/>
          </a:prstGeom>
          <a:solidFill>
            <a:srgbClr val="224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63931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Componente C (Demographic)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363931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Traversal 2 saltos directo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363931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A535"/>
                </a:solidFill>
                <a:latin typeface="Calibri"/>
              </a:rPr>
              <a:t>O(1) si existe arista PREFERS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363931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A535"/>
                </a:solidFill>
                <a:latin typeface="Calibri"/>
              </a:rPr>
              <a:t>Muy bajo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233672"/>
            <a:ext cx="11612880" cy="62179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2976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Geo Bonus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46120" y="42976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Distancia euclidiana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42976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A535"/>
                </a:solidFill>
                <a:latin typeface="Calibri"/>
              </a:rPr>
              <a:t>O(|visited|) por candidato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42976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  <a:latin typeface="Calibri"/>
              </a:rPr>
              <a:t>Bajo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892040"/>
            <a:ext cx="11612880" cy="621792"/>
          </a:xfrm>
          <a:prstGeom prst="rect">
            <a:avLst/>
          </a:prstGeom>
          <a:solidFill>
            <a:srgbClr val="224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95604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Filtro de presupuesto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46120" y="495604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Condición sobre propiedad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495604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A535"/>
                </a:solidFill>
                <a:latin typeface="Calibri"/>
              </a:rPr>
              <a:t>O(|P|)  P = total de places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40" y="495604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  <a:latin typeface="Calibri"/>
              </a:rPr>
              <a:t>Bajo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5550408"/>
            <a:ext cx="11612880" cy="62179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5614416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Pipeline completo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46120" y="5614416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Todo el scoring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5614416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A535"/>
                </a:solidFill>
                <a:latin typeface="Calibri"/>
              </a:rPr>
              <a:t>O(|P| × |V|) sin GDS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06840" y="5614416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A535"/>
                </a:solidFill>
                <a:latin typeface="Calibri"/>
              </a:rPr>
              <a:t>Medio-alto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6144768"/>
            <a:ext cx="11612880" cy="502920"/>
          </a:xfrm>
          <a:prstGeom prst="rect">
            <a:avLst/>
          </a:prstGeom>
          <a:solidFill>
            <a:srgbClr val="1A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619963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Optimización clave: el Cypher de _fetch_candidates() calcula peers similares en una sola query — evita el O(|V|²) del naive Python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9B8F"/>
                </a:solidFill>
                <a:latin typeface="Calibri"/>
              </a:rPr>
              <a:t>UTourist · Algoritmos y Estructuras de Datos · UVG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0" y="66019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18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73152"/>
          </a:xfrm>
          <a:prstGeom prst="rect">
            <a:avLst/>
          </a:prstGeom>
          <a:solidFill>
            <a:srgbClr val="2E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04 · Implementación y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E9B8F"/>
                </a:solidFill>
                <a:latin typeface="Calibri"/>
              </a:rPr>
              <a:t>Arquitectura · Código clave · Demo · Lecciones aprendidas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9B8F"/>
                </a:solidFill>
                <a:latin typeface="Calibri"/>
              </a:rPr>
              <a:t>UTourist · Algoritmos y Estructuras de Datos · UVG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019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19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Arquitectura del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9B8F"/>
                </a:solidFill>
                <a:latin typeface="Calibri"/>
              </a:rPr>
              <a:t>Capas y responsabilidades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371600" cy="777240"/>
          </a:xfrm>
          <a:prstGeom prst="rect">
            <a:avLst/>
          </a:prstGeom>
          <a:solidFill>
            <a:srgbClr val="2E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0759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3A5C"/>
                </a:solidFill>
                <a:latin typeface="Calibri"/>
              </a:rPr>
              <a:t>Templates (HTML/CSS)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143000"/>
            <a:ext cx="9966960" cy="7772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74519" y="1234440"/>
            <a:ext cx="9692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UI · 12 vistas: landing, onboarding, recomendaciones,
detalle, explorar, favoritos, perfil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39112"/>
            <a:ext cx="1371600" cy="777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203704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3A5C"/>
                </a:solidFill>
                <a:latin typeface="Calibri"/>
              </a:rPr>
              <a:t>Views Layer (Django)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37360" y="2039112"/>
            <a:ext cx="9966960" cy="7772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74519" y="2130552"/>
            <a:ext cx="9692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api/views.py · Routing, sesiones, autenticación,
orquestación de requests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935224"/>
            <a:ext cx="1371600" cy="777240"/>
          </a:xfrm>
          <a:prstGeom prst="rect">
            <a:avLst/>
          </a:prstGeom>
          <a:solidFill>
            <a:srgbClr val="F4A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099816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3A5C"/>
                </a:solidFill>
                <a:latin typeface="Calibri"/>
              </a:rPr>
              <a:t>Service Layer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7360" y="2935224"/>
            <a:ext cx="9966960" cy="7772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74519" y="3026664"/>
            <a:ext cx="9692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services/recomendation_service.py · Pipeline híbrido,
RecommendationScore dataclass, cold start logic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31335"/>
            <a:ext cx="1371600" cy="777240"/>
          </a:xfrm>
          <a:prstGeom prst="rect">
            <a:avLst/>
          </a:prstGeom>
          <a:solidFill>
            <a:srgbClr val="2E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995927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3A5C"/>
                </a:solidFill>
                <a:latin typeface="Calibri"/>
              </a:rPr>
              <a:t>Scoring Layer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7360" y="3831335"/>
            <a:ext cx="9966960" cy="7772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74519" y="3922775"/>
            <a:ext cx="9692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utils/scoring.py · Fórmulas matemáticas:
content, jaccard, geo, serendipity, demographic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727448"/>
            <a:ext cx="1371600" cy="777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489204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3A5C"/>
                </a:solidFill>
                <a:latin typeface="Calibri"/>
              </a:rPr>
              <a:t>Query Layer (Cypher)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37360" y="4727448"/>
            <a:ext cx="9966960" cy="7772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74519" y="4818888"/>
            <a:ext cx="9692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queries/queries.py · Consultas Neo4j:
fetch_student_profile, fetch_candidates, add_review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623560"/>
            <a:ext cx="1371600" cy="777240"/>
          </a:xfrm>
          <a:prstGeom prst="rect">
            <a:avLst/>
          </a:prstGeom>
          <a:solidFill>
            <a:srgbClr val="F4A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78815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3A5C"/>
                </a:solidFill>
                <a:latin typeface="Calibri"/>
              </a:rPr>
              <a:t>Neo4j + neomodel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37360" y="5623560"/>
            <a:ext cx="9966960" cy="7772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74519" y="5715000"/>
            <a:ext cx="9692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Base de datos de grafos · 6 nodos · 8 tipos de relaciones
31 destinos de Guatemala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9B8F"/>
                </a:solidFill>
                <a:latin typeface="Calibri"/>
              </a:rPr>
              <a:t>UTourist · Algoritmos y Estructuras de Datos · UVG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6019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20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Código Clave · RecommendationService.recommend()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30000" cy="53035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9B8F"/>
                </a:solidFill>
                <a:latin typeface="Calibri"/>
              </a:rPr>
              <a:t>def recommend(self, student_uid, limit=10, budget_factor=1.0):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  profile = self._fetch_student_profile(student_uid)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56816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  if profile is None: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40864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  <a:latin typeface="Calibri"/>
              </a:rPr>
              <a:t>        return self._fallback_popular(limit)      # cold start total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2491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0896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  <a:latin typeface="Calibri"/>
              </a:rPr>
              <a:t>    cold_start = len(profile['visited_uids']) &lt; 3 # umbral DSA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930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  candidates  = self._fetch_candidates(student_uid, profile['budget'])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77056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61104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A535"/>
                </a:solidFill>
                <a:latin typeface="Calibri"/>
              </a:rPr>
              <a:t>    scored = [self._score_candidate(profile, c, cold_start)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4515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            for c in candidates]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2920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41324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  scored.sort(key=lambda r: r.final_score, reverse=True)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797296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  return [self._enrich(r) for r in scored[:limit]]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9B8F"/>
                </a:solidFill>
                <a:latin typeface="Calibri"/>
              </a:rPr>
              <a:t>UTourist · Algoritmos y Estructuras de Datos · UVG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6019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21 /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Código Clave · score_place() — utils/scoring.py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30000" cy="5394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9B8F"/>
                </a:solidFill>
                <a:latin typeface="Calibri"/>
              </a:rPr>
              <a:t>WEIGHT_CONTENT       = 0.45   # Coincidencia de categorías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9B8F"/>
                </a:solidFill>
                <a:latin typeface="Calibri"/>
              </a:rPr>
              <a:t>WEIGHT_DEMOGRAPHIC   = 0.30   # Afinidad por carrera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9B8F"/>
                </a:solidFill>
                <a:latin typeface="Calibri"/>
              </a:rPr>
              <a:t>WEIGHT_COLLABORATIVE = 0.15   # Visitas de peers similares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9B8F"/>
                </a:solidFill>
                <a:latin typeface="Calibri"/>
              </a:rPr>
              <a:t>WEIGHT_POPULARITY    = 0.05   # Popularidad normalizada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9B8F"/>
                </a:solidFill>
                <a:latin typeface="Calibri"/>
              </a:rPr>
              <a:t>WEIGHT_GEO           = 0.05   # Cercanía a Guat. 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17520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83280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A535"/>
                </a:solidFill>
                <a:latin typeface="Calibri"/>
              </a:rPr>
              <a:t>final_score = (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49040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9B8F"/>
                </a:solidFill>
                <a:latin typeface="Calibri"/>
              </a:rPr>
              <a:t>    (content_score      * WEIGHT_CONTENT)       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14800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9B8F"/>
                </a:solidFill>
                <a:latin typeface="Calibri"/>
              </a:rPr>
              <a:t>    (demographic_score  * WEIGHT_DEMOGRAPHIC)   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80560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9B8F"/>
                </a:solidFill>
                <a:latin typeface="Calibri"/>
              </a:rPr>
              <a:t>    (collaborative_score* WEIGHT_COLLABORATIVE) 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46320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9B8F"/>
                </a:solidFill>
                <a:latin typeface="Calibri"/>
              </a:rPr>
              <a:t>    (popularity_bonus   * WEIGHT_POPULARITY)    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212080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9B8F"/>
                </a:solidFill>
                <a:latin typeface="Calibri"/>
              </a:rPr>
              <a:t>    (geo_bonus          * WEIGHT_GEO)            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577840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  <a:latin typeface="Calibri"/>
              </a:rPr>
              <a:t>    random.uniform(0, 0.10)   # serendipity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943600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9B8F"/>
                </a:solidFill>
                <a:latin typeface="Calibri"/>
              </a:rPr>
              <a:t>UTourist · Algoritmos y Estructuras de Datos · UVG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6019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22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Datos y Configuración del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9B8F"/>
                </a:solidFill>
                <a:latin typeface="Calibri"/>
              </a:rPr>
              <a:t>Management commands y datos de Guatemala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303520" cy="52120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9B8F"/>
                </a:solidFill>
                <a:latin typeface="Calibri"/>
              </a:rPr>
              <a:t>Management Commands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5029200" cy="5486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37360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7AE60"/>
                </a:solidFill>
                <a:latin typeface="Calibri"/>
              </a:rPr>
              <a:t>python manage.py migrate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0428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Configura SQLite para autenticación Django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46120"/>
            <a:ext cx="5029200" cy="5486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291839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7AE60"/>
                </a:solidFill>
                <a:latin typeface="Calibri"/>
              </a:rPr>
              <a:t>python manage.py setup_neo4j
  --clear --seed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85876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Crea nodos de lugares, categorías, carreras
y relaciones PREFERS con pesos iniciales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800600"/>
            <a:ext cx="5029200" cy="5486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846320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7AE60"/>
                </a:solidFill>
                <a:latin typeface="Calibri"/>
              </a:rPr>
              <a:t>python manage.py
  populate_simulated_users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41324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Genera usuarios sintéticos desde encuesta.csv
para nutrir el Collaborative Filtering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097280"/>
            <a:ext cx="5669280" cy="52120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20700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A535"/>
                </a:solidFill>
                <a:latin typeface="Calibri"/>
              </a:rPr>
              <a:t>Datos de Guatemala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691640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·  31 destinos turísticos guatemaltecos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331720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·  Coordenadas reales (lat/lng) de cada lugar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971800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·  Costo estimado de visita en GTQ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611879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·  Categorías: cultura, naturaleza, aventura,
  gastronomía, historia, playa, ecoturismo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251960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·  Ciudades: Antigua, Petén, Atitlán, Xela...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4892040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·  Imágenes desde Unsplash (CDN)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532119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·  encuesta.csv: datos reales de preferencias
  estudiantiles para simulación masiva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9B8F"/>
                </a:solidFill>
                <a:latin typeface="Calibri"/>
              </a:rPr>
              <a:t>UTourist · Algoritmos y Estructuras de Datos · UVG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6019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23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Flujo de Usuario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9B8F"/>
                </a:solidFill>
                <a:latin typeface="Calibri"/>
              </a:rPr>
              <a:t>De registro a recomendación personalizada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2103120" cy="4389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103120" cy="685800"/>
          </a:xfrm>
          <a:prstGeom prst="rect">
            <a:avLst/>
          </a:prstGeom>
          <a:solidFill>
            <a:srgbClr val="2E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34440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116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9B8F"/>
                </a:solidFill>
                <a:latin typeface="Calibri"/>
              </a:rPr>
              <a:t>Registro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0604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Email + contraseña
Django auth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39" y="30175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9B8F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39" y="1188720"/>
            <a:ext cx="2103120" cy="4389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06039" y="1188720"/>
            <a:ext cx="2103120" cy="685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6039" y="1234440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79" y="20116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7AE60"/>
                </a:solidFill>
                <a:latin typeface="Calibri"/>
              </a:rPr>
              <a:t>Onboarding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79" y="260604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Universidad · Carrera
Categorías · Presupuesto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30175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7AE60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59" y="1188720"/>
            <a:ext cx="2103120" cy="4389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37759" y="1188720"/>
            <a:ext cx="2103120" cy="685800"/>
          </a:xfrm>
          <a:prstGeom prst="rect">
            <a:avLst/>
          </a:prstGeom>
          <a:solidFill>
            <a:srgbClr val="F4A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59" y="1234440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199" y="20116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A535"/>
                </a:solidFill>
                <a:latin typeface="Calibri"/>
              </a:rPr>
              <a:t>Recomendaciones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199" y="260604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Algoritmo híbrido
Top 10 destinos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79" y="30175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4A535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9479" y="1188720"/>
            <a:ext cx="2103120" cy="4389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69479" y="1188720"/>
            <a:ext cx="2103120" cy="685800"/>
          </a:xfrm>
          <a:prstGeom prst="rect">
            <a:avLst/>
          </a:prstGeom>
          <a:solidFill>
            <a:srgbClr val="2E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79" y="1234440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19" y="20116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9B8F"/>
                </a:solidFill>
                <a:latin typeface="Calibri"/>
              </a:rPr>
              <a:t>Interacción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19" y="260604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Visitar · Calificar
Guardar favoritos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30175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9B8F"/>
                </a:solidFill>
                <a:latin typeface="Calibr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0" y="1188720"/>
            <a:ext cx="2103120" cy="4389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01200" y="1188720"/>
            <a:ext cx="2103120" cy="685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0" y="1234440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B3A5C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20116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7AE60"/>
                </a:solidFill>
                <a:latin typeface="Calibri"/>
              </a:rPr>
              <a:t>Mejora continua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260604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Nuevas visitas
mejoran el CF score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760720"/>
            <a:ext cx="11612880" cy="594360"/>
          </a:xfrm>
          <a:prstGeom prst="rect">
            <a:avLst/>
          </a:prstGeom>
          <a:solidFill>
            <a:srgbClr val="1A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8521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Cada calificación y visita actualiza la popularidad del lugar y enriquece el grafo de comportamiento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9B8F"/>
                </a:solidFill>
                <a:latin typeface="Calibri"/>
              </a:rPr>
              <a:t>UTourist · Algoritmos y Estructuras de Datos · UVG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0" y="66019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24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API REST · Endpoints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9B8F"/>
                </a:solidFill>
                <a:latin typeface="Calibri"/>
              </a:rPr>
              <a:t>Integración con frontend y debug del algoritmo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005840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3A5C"/>
                </a:solidFill>
                <a:latin typeface="Calibri"/>
              </a:rPr>
              <a:t>GET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234440"/>
            <a:ext cx="10332720" cy="5486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132588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  <a:latin typeface="Calibri"/>
              </a:rPr>
              <a:t>/api/recommendations/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83080"/>
            <a:ext cx="11338560" cy="960120"/>
          </a:xfrm>
          <a:prstGeom prst="rect">
            <a:avLst/>
          </a:prstGeom>
          <a:solidFill>
            <a:srgbClr val="22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74519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Retorna top N recomendaciones del usuario autenticado.
Respuesta JSON con score, componentes y razón de match.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926080"/>
            <a:ext cx="1005840" cy="548640"/>
          </a:xfrm>
          <a:prstGeom prst="rect">
            <a:avLst/>
          </a:prstGeom>
          <a:solidFill>
            <a:srgbClr val="2E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01752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3A5C"/>
                </a:solidFill>
                <a:latin typeface="Calibri"/>
              </a:rPr>
              <a:t>POST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2926080"/>
            <a:ext cx="10332720" cy="5486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8760" y="30175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9B8F"/>
                </a:solidFill>
                <a:latin typeface="Calibri"/>
              </a:rPr>
              <a:t>/api/recommendations/review/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474720"/>
            <a:ext cx="11338560" cy="960120"/>
          </a:xfrm>
          <a:prstGeom prst="rect">
            <a:avLst/>
          </a:prstGeom>
          <a:solidFill>
            <a:srgbClr val="22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56616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Registra visita con {place_uid, rating, comment}.
Actualiza popularity del lugar en Neo4j.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617720"/>
            <a:ext cx="1005840" cy="548640"/>
          </a:xfrm>
          <a:prstGeom prst="rect">
            <a:avLst/>
          </a:prstGeom>
          <a:solidFill>
            <a:srgbClr val="F4A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70916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3A5C"/>
                </a:solidFill>
                <a:latin typeface="Calibri"/>
              </a:rPr>
              <a:t>GET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4617720"/>
            <a:ext cx="10332720" cy="5486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08760" y="470916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A535"/>
                </a:solidFill>
                <a:latin typeface="Calibri"/>
              </a:rPr>
              <a:t>/api/recommendations/explain/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166360"/>
            <a:ext cx="11338560" cy="960120"/>
          </a:xfrm>
          <a:prstGeom prst="rect">
            <a:avLst/>
          </a:prstGeom>
          <a:solidFill>
            <a:srgbClr val="22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25780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Desglose de score por componente para un destino específico.
Útil para debugear y demostrar el algoritmo.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9B8F"/>
                </a:solidFill>
                <a:latin typeface="Calibri"/>
              </a:rPr>
              <a:t>UTourist · Algoritmos y Estructuras de Datos · UVG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6019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25 /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Desafíos y Lecciones Aprendidas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9B8F"/>
                </a:solidFill>
                <a:latin typeface="Calibri"/>
              </a:rPr>
              <a:t>Los problemas reales que resolvimos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486400" cy="2286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4864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74C3C"/>
                </a:solidFill>
                <a:latin typeface="Calibri"/>
              </a:rPr>
              <a:t>🔁  Cold 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74C3C"/>
                </a:solidFill>
                <a:latin typeface="Calibri"/>
              </a:rPr>
              <a:t>Problema:  Un usuario nuevo sin historial rompe el Collaborative Filtering.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60320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  <a:latin typeface="Calibri"/>
              </a:rPr>
              <a:t>Solución:    Umbral de 3 visitas + redistribución de pesos automática.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486400" cy="2286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5486400" cy="64008"/>
          </a:xfrm>
          <a:prstGeom prst="rect">
            <a:avLst/>
          </a:prstGeom>
          <a:solidFill>
            <a:srgbClr val="F4A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3258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A535"/>
                </a:solidFill>
                <a:latin typeface="Calibri"/>
              </a:rPr>
              <a:t>⚖  Calibración de pesos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82880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74C3C"/>
                </a:solidFill>
                <a:latin typeface="Calibri"/>
              </a:rPr>
              <a:t>Problema:  Los pesos iniciales (40/35/25) daban recomendaciones sesgadas.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560320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  <a:latin typeface="Calibri"/>
              </a:rPr>
              <a:t>Solución:    Iteración con datos reales de encuesta.csv hasta equilibrar.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657600"/>
            <a:ext cx="5486400" cy="2286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657600"/>
            <a:ext cx="54864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7947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74C3C"/>
                </a:solidFill>
                <a:latin typeface="Calibri"/>
              </a:rPr>
              <a:t>🕸  Complejidad del Cypher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29768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74C3C"/>
                </a:solidFill>
                <a:latin typeface="Calibri"/>
              </a:rPr>
              <a:t>Problema:  El JOIN de peers similares en Python era O(n²) inaceptable.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029200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  <a:latin typeface="Calibri"/>
              </a:rPr>
              <a:t>Solución:    Reescribir toda la lógica de peers dentro de una sola query Cypher.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657600"/>
            <a:ext cx="5486400" cy="2286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657600"/>
            <a:ext cx="5486400" cy="64008"/>
          </a:xfrm>
          <a:prstGeom prst="rect">
            <a:avLst/>
          </a:prstGeom>
          <a:solidFill>
            <a:srgbClr val="F4A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7947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A535"/>
                </a:solidFill>
                <a:latin typeface="Calibri"/>
              </a:rPr>
              <a:t>🔖  Serendipity vs Relevancia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74C3C"/>
                </a:solidFill>
                <a:latin typeface="Calibri"/>
              </a:rPr>
              <a:t>Problema:  Sin variación aleatoria, las recomendaciones eran monótonas.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5029200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  <a:latin typeface="Calibri"/>
              </a:rPr>
              <a:t>Solución:    Agregar random.uniform(0, 0.10) como factor de exploración.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9B8F"/>
                </a:solidFill>
                <a:latin typeface="Calibri"/>
              </a:rPr>
              <a:t>UTourist · Algoritmos y Estructuras de Datos · UVG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6019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26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Conclusiones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188720"/>
          </a:xfrm>
          <a:prstGeom prst="rect">
            <a:avLst/>
          </a:prstGeom>
          <a:solidFill>
            <a:srgbClr val="224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64592" cy="1188720"/>
          </a:xfrm>
          <a:prstGeom prst="rect">
            <a:avLst/>
          </a:prstGeom>
          <a:solidFill>
            <a:srgbClr val="2E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170432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9B8F"/>
                </a:solidFill>
                <a:latin typeface="Calibri"/>
              </a:rPr>
              <a:t>Los grafos son la estructura ideal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727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para sistemas de recomendación: las relaciones son ciudadanos de primera clase, no columnas en una tabla.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23160"/>
            <a:ext cx="11247120" cy="1188720"/>
          </a:xfrm>
          <a:prstGeom prst="rect">
            <a:avLst/>
          </a:prstGeom>
          <a:solidFill>
            <a:srgbClr val="224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423160"/>
            <a:ext cx="164592" cy="1188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96312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7AE60"/>
                </a:solidFill>
                <a:latin typeface="Calibri"/>
              </a:rPr>
              <a:t>El algoritmo híbrido superó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9864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cualquier enfoque individual: resuelve el cold start, reduce el ruido del CF y aprovecha datos demográficos.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49039"/>
            <a:ext cx="11247120" cy="1188720"/>
          </a:xfrm>
          <a:prstGeom prst="rect">
            <a:avLst/>
          </a:prstGeom>
          <a:solidFill>
            <a:srgbClr val="224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749039"/>
            <a:ext cx="164592" cy="1188720"/>
          </a:xfrm>
          <a:prstGeom prst="rect">
            <a:avLst/>
          </a:prstGeom>
          <a:solidFill>
            <a:srgbClr val="F4A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822191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A535"/>
                </a:solidFill>
                <a:latin typeface="Calibri"/>
              </a:rPr>
              <a:t>La complejidad importa en producción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2452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reescribir el O(n²) de Python a Cypher fue crítico para que el sistema funcione con datos reales.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074920"/>
            <a:ext cx="11247120" cy="1188720"/>
          </a:xfrm>
          <a:prstGeom prst="rect">
            <a:avLst/>
          </a:prstGeom>
          <a:solidFill>
            <a:srgbClr val="224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5074920"/>
            <a:ext cx="164592" cy="1188720"/>
          </a:xfrm>
          <a:prstGeom prst="rect">
            <a:avLst/>
          </a:prstGeom>
          <a:solidFill>
            <a:srgbClr val="2E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148072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9B8F"/>
                </a:solidFill>
                <a:latin typeface="Calibri"/>
              </a:rPr>
              <a:t>La explicabilidad es un feature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50407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no un extra: poder decirle al usuario POR QUÉ se recomienda un lugar aumenta la confianza.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9B8F"/>
                </a:solidFill>
                <a:latin typeface="Calibri"/>
              </a:rPr>
              <a:t>UTourist · Algoritmos y Estructuras de Datos · UVG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6019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27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2E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E9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Calibri"/>
              </a:rPr>
              <a:t>¿Preguntas?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246120"/>
            <a:ext cx="5788152" cy="73152"/>
          </a:xfrm>
          <a:prstGeom prst="rect">
            <a:avLst/>
          </a:prstGeom>
          <a:solidFill>
            <a:srgbClr val="F4A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4290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E9B8F"/>
                </a:solidFill>
                <a:latin typeface="Calibri"/>
              </a:rPr>
              <a:t>Marco Prera  ·  Fabricio Estrada  ·  Mauricio Corado  ·  Sebastián Rodas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0F4F8"/>
                </a:solidFill>
                <a:latin typeface="Calibri"/>
              </a:rPr>
              <a:t>UTourist · Algoritmos y Estructuras de Datos · UVG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663440"/>
            <a:ext cx="85313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Stack:      Django 6 · Neo4j 5.19 · neomodel 5.3 · Python 3.10+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166359"/>
            <a:ext cx="85313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Algoritmo: Content-Based (40%) + Collaborative (35%) + Demographic (25%)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669279"/>
            <a:ext cx="85313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Datos:      31 destinos guatemaltecos · encuesta.csv de usuarios reales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9B8F"/>
                </a:solidFill>
                <a:latin typeface="Calibri"/>
              </a:rPr>
              <a:t>UTourist · Algoritmos y Estructuras de Datos · UVG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6019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28 /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